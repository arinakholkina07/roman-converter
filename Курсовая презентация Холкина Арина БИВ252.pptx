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63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8611" y="1998358"/>
            <a:ext cx="4226829" cy="2198193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40832" y="1916770"/>
            <a:ext cx="4614087" cy="233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Разработка программы, позволяющей переводить из римской системы в арабскую и наоборот, и имеющей режим обучения пользователя этому переводу</a:t>
            </a:r>
            <a:endParaRPr lang="ru-RU" sz="24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5995" y="4748219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</a:t>
            </a:r>
            <a:r>
              <a:rPr lang="ru-RU" sz="12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b="1" dirty="0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73F6076F-12A2-B336-B38A-F3B291E68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86" y="150126"/>
            <a:ext cx="2722437" cy="27040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0EB173-4041-60E7-62D9-E3E7C3172575}"/>
              </a:ext>
            </a:extLst>
          </p:cNvPr>
          <p:cNvSpPr txBox="1"/>
          <p:nvPr/>
        </p:nvSpPr>
        <p:spPr>
          <a:xfrm>
            <a:off x="4479891" y="160020"/>
            <a:ext cx="457502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Федеральное государственное автономное </a:t>
            </a:r>
            <a:endParaRPr lang="ru-RU" sz="1200" b="1" dirty="0">
              <a:solidFill>
                <a:schemeClr val="accent4">
                  <a:lumMod val="20000"/>
                  <a:lumOff val="80000"/>
                </a:schemeClr>
              </a:solidFill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образовательное учреждение высшего образования</a:t>
            </a:r>
            <a:endParaRPr lang="ru-RU" sz="1200" b="1" dirty="0">
              <a:solidFill>
                <a:schemeClr val="accent4">
                  <a:lumMod val="20000"/>
                  <a:lumOff val="80000"/>
                </a:schemeClr>
              </a:solidFill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«Национальный исследовательский университет</a:t>
            </a:r>
            <a:endParaRPr lang="ru-RU" sz="1200" b="1" dirty="0">
              <a:solidFill>
                <a:schemeClr val="accent4">
                  <a:lumMod val="20000"/>
                  <a:lumOff val="80000"/>
                </a:schemeClr>
              </a:solidFill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«Высшая школа экономики»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ru-RU" sz="1200" b="1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</a:b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Московский институт электроники и математики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200" b="1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им. А.Н. Тихонова</a:t>
            </a:r>
            <a:endParaRPr lang="ru-RU" sz="1200" dirty="0">
              <a:solidFill>
                <a:schemeClr val="bg1"/>
              </a:solidFill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ru-RU" sz="1200" b="0" dirty="0">
                <a:solidFill>
                  <a:schemeClr val="bg1"/>
                </a:solidFill>
                <a:effectLst/>
              </a:rPr>
            </a:br>
            <a:r>
              <a:rPr lang="ru-RU" b="0" i="0" u="none" strike="noStrike" dirty="0">
                <a:solidFill>
                  <a:schemeClr val="bg1"/>
                </a:solidFill>
                <a:effectLst/>
              </a:rPr>
              <a:t>Междисциплинарная курсовая работа</a:t>
            </a:r>
            <a:endParaRPr lang="ru-RU" b="0" dirty="0">
              <a:solidFill>
                <a:schemeClr val="bg1"/>
              </a:solidFill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076322-E418-A7B6-1D28-747CF1633F38}"/>
              </a:ext>
            </a:extLst>
          </p:cNvPr>
          <p:cNvSpPr txBox="1"/>
          <p:nvPr/>
        </p:nvSpPr>
        <p:spPr>
          <a:xfrm>
            <a:off x="469374" y="4247706"/>
            <a:ext cx="37335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Выполнила студентка: </a:t>
            </a:r>
            <a:endParaRPr lang="ru-RU" sz="1400" b="0" dirty="0">
              <a:solidFill>
                <a:schemeClr val="accent4">
                  <a:lumMod val="20000"/>
                  <a:lumOff val="80000"/>
                </a:schemeClr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Холкина Арина Витальевна, БИВ252</a:t>
            </a:r>
            <a:endParaRPr lang="ru-RU" sz="1400" b="0" dirty="0">
              <a:solidFill>
                <a:schemeClr val="accent4">
                  <a:lumMod val="20000"/>
                  <a:lumOff val="80000"/>
                </a:schemeClr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Руководитель: Ерохина Елена Альфредовна</a:t>
            </a:r>
            <a:br>
              <a:rPr lang="ru-RU" dirty="0"/>
            </a:br>
            <a:endParaRPr lang="ru-RU" dirty="0"/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E93B365B-EFA9-FF52-1167-871893478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08" y="2979629"/>
            <a:ext cx="3860464" cy="99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3D76A-7177-8F77-969A-914ABCD58031}"/>
              </a:ext>
            </a:extLst>
          </p:cNvPr>
          <p:cNvSpPr txBox="1"/>
          <p:nvPr/>
        </p:nvSpPr>
        <p:spPr>
          <a:xfrm>
            <a:off x="8598445" y="4704149"/>
            <a:ext cx="266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5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</a:t>
            </a:r>
            <a:r>
              <a:rPr lang="en-US" sz="3200" b="1" u="sng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ель</a:t>
            </a: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задачи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341658" y="622004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31732"/>
            <a:ext cx="4023360" cy="1332844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78649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ru-RU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8929" y="969370"/>
            <a:ext cx="3819043" cy="1404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Большинство людей не умеют читать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римские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цифры</a:t>
            </a:r>
            <a:endParaRPr lang="ru-RU" sz="12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Online-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конвертеры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переводят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обучают</a:t>
            </a:r>
            <a:endParaRPr lang="ru-RU" sz="12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Обучающие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сайты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дают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задания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теории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547872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26864" y="731732"/>
            <a:ext cx="4151376" cy="37897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795528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r>
              <a:rPr lang="ru-RU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1058736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программу, которая выполняет перевод чисел между римской и арабской системами счисления, а также включает в себя интерактивный режим обучения пользователя правилам данного перевода.</a:t>
            </a: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849934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r>
              <a:rPr lang="ru-RU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2143997"/>
            <a:ext cx="3895344" cy="18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Изучить теоретические основы римской системы счисления.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существующие аналоги.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алгоритмы двусторонней конвертации.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алгоритм для режима обучения.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программу на Python с графическим интерфейсом.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Обеспечить обработку некорректного ввода пользователя.</a:t>
            </a:r>
          </a:p>
          <a:p>
            <a:pPr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Провести тестирование и подготовить документацию.</a:t>
            </a:r>
          </a:p>
        </p:txBody>
      </p:sp>
      <p:pic>
        <p:nvPicPr>
          <p:cNvPr id="2050" name="Picture 2" descr="Изображение пина-истории">
            <a:extLst>
              <a:ext uri="{FF2B5EF4-FFF2-40B4-BE49-F238E27FC236}">
                <a16:creationId xmlns:a16="http://schemas.microsoft.com/office/drawing/2014/main" id="{8E1FB90F-AC1F-8B53-CE38-C271552C9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584" y="2124890"/>
            <a:ext cx="2483171" cy="240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1254D2-F211-B3C0-984A-3894D1184C55}"/>
              </a:ext>
            </a:extLst>
          </p:cNvPr>
          <p:cNvSpPr txBox="1"/>
          <p:nvPr/>
        </p:nvSpPr>
        <p:spPr>
          <a:xfrm>
            <a:off x="8641515" y="4681153"/>
            <a:ext cx="329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457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420624" y="637355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51560"/>
            <a:ext cx="265176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115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ДАННЫЕ</a:t>
            </a:r>
            <a:r>
              <a:rPr lang="ru-RU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1554480"/>
            <a:ext cx="2395728" cy="694944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600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roman_str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18836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из I V X L C D 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2359152"/>
            <a:ext cx="2395728" cy="694944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arabic_str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2688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целое число (1–3999)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3163824"/>
            <a:ext cx="2395728" cy="694944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2095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" y="3493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режима обучения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65176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28416" y="11155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r>
              <a:rPr lang="ru-RU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28416" y="1536192"/>
            <a:ext cx="23957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≤ arabic_str ≤ 3999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Символы только I V X L C D 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X C M — не более 3 раз подряд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 D — не повторяются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Корректные субтрактивные пары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1051560"/>
            <a:ext cx="2724912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r>
              <a:rPr lang="ru-RU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1554480"/>
            <a:ext cx="2468880" cy="960120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Конвертация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90195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arabic_result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roman_result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2651760"/>
            <a:ext cx="2468880" cy="960120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29992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(объяснение)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+ grade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98C2AC-FA63-BAEB-0242-FE02AA340D32}"/>
              </a:ext>
            </a:extLst>
          </p:cNvPr>
          <p:cNvSpPr txBox="1"/>
          <p:nvPr/>
        </p:nvSpPr>
        <p:spPr>
          <a:xfrm>
            <a:off x="8615296" y="4709160"/>
            <a:ext cx="287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895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решения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384048" y="623730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701969"/>
            <a:ext cx="4114800" cy="3918234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720983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Римское → Арабское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964692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строки справа налево:</a:t>
            </a:r>
            <a:endParaRPr lang="en-US" sz="11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O(n), где n — длина числа</a:t>
            </a:r>
            <a:endParaRPr lang="en-US" sz="11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20360" y="1472184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36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4136" y="1410841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 = значение текущего символа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0360" y="2058399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4992" y="1996057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curr &lt; </a:t>
            </a: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r>
              <a:rPr lang="ru-RU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то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вычитаем curr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2643615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512064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63711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прибавляем curr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0360" y="3228831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360" y="32345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143659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= curr, переходим к следующему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0360" y="3782664"/>
            <a:ext cx="3858768" cy="310896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79014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Пример: IV = 5−1 = 4  |  MCMXCIX = 1999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701969"/>
            <a:ext cx="4114800" cy="3918234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4140" y="721347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Арабское → Римское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101138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Жадный алгоритм: 13 пар «значение–символ»</a:t>
            </a:r>
            <a:endParaRPr lang="en-US" sz="11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фиксированное число итераций</a:t>
            </a:r>
            <a:endParaRPr lang="en-US" sz="11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73168" y="2084832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1000→M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24144" y="2084832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900→CM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084832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500→D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26096" y="2084832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400→CD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2487168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100→C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24144" y="2487168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24144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90→XC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2487168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50→L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26096" y="2487168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2487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40→XL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2889504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10→X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24144" y="2889504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9→IX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2889504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5→V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26096" y="2889504"/>
            <a:ext cx="914400" cy="347472"/>
          </a:xfrm>
          <a:prstGeom prst="rect">
            <a:avLst/>
          </a:prstGeom>
          <a:solidFill>
            <a:srgbClr val="253558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6096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4→IV  1→I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73168" y="3328416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66944" y="332841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число ≥ текущего значения пары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73168" y="37673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66944" y="37673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символ к результату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73168" y="420624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66944" y="420624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Вычесть значение из числа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73168" y="1587180"/>
            <a:ext cx="3858768" cy="274320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16004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Пример: 1999 → M+CM+XC+IX = MCMXCIX</a:t>
            </a:r>
            <a:endParaRPr lang="en-US" sz="1000" dirty="0"/>
          </a:p>
        </p:txBody>
      </p:sp>
      <p:sp>
        <p:nvSpPr>
          <p:cNvPr id="62" name="Text 51">
            <a:extLst>
              <a:ext uri="{FF2B5EF4-FFF2-40B4-BE49-F238E27FC236}">
                <a16:creationId xmlns:a16="http://schemas.microsoft.com/office/drawing/2014/main" id="{30F13FAF-F058-3D03-9A91-1116E44EA382}"/>
              </a:ext>
            </a:extLst>
          </p:cNvPr>
          <p:cNvSpPr/>
          <p:nvPr/>
        </p:nvSpPr>
        <p:spPr>
          <a:xfrm>
            <a:off x="520360" y="20543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5" name="Text 54">
            <a:extLst>
              <a:ext uri="{FF2B5EF4-FFF2-40B4-BE49-F238E27FC236}">
                <a16:creationId xmlns:a16="http://schemas.microsoft.com/office/drawing/2014/main" id="{C77B3618-1038-068F-9C41-30CA27FA7121}"/>
              </a:ext>
            </a:extLst>
          </p:cNvPr>
          <p:cNvSpPr/>
          <p:nvPr/>
        </p:nvSpPr>
        <p:spPr>
          <a:xfrm>
            <a:off x="530352" y="26452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488B20-E957-FD1E-6DC7-6489637E695F}"/>
              </a:ext>
            </a:extLst>
          </p:cNvPr>
          <p:cNvSpPr txBox="1"/>
          <p:nvPr/>
        </p:nvSpPr>
        <p:spPr>
          <a:xfrm>
            <a:off x="8588673" y="4725570"/>
            <a:ext cx="287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-37969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</a:t>
            </a: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393192" y="600748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51560"/>
            <a:ext cx="2798064" cy="33192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9888" y="1170432"/>
            <a:ext cx="713232" cy="7132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170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" y="199339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вопроса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2487168"/>
            <a:ext cx="25420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случайных вопросов двух типов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1: римское → арабское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2: арабское → римское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Диапазон: 1 </a:t>
            </a:r>
            <a:r>
              <a:rPr lang="ru-RU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3999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1051560"/>
            <a:ext cx="2798064" cy="33192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1170432"/>
            <a:ext cx="713232" cy="7132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170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56432" y="199339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ответа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487168"/>
            <a:ext cx="25420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ответ → подтверждение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→ правильный ответ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применённого правила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разбор перевода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051560"/>
            <a:ext cx="2798064" cy="33192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78624" y="1170432"/>
            <a:ext cx="713232" cy="7132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1170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199339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теста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87168"/>
            <a:ext cx="25420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→ оценка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60–79% → оценка 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40–59% → оценка 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 → оценка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00538" y="4645152"/>
            <a:ext cx="6910873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неверном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ответе</a:t>
            </a: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программа объясняет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применённое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показывает пошаговый разбор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859C2F-0121-0D28-BB0E-E9568FEA48A6}"/>
              </a:ext>
            </a:extLst>
          </p:cNvPr>
          <p:cNvSpPr txBox="1"/>
          <p:nvPr/>
        </p:nvSpPr>
        <p:spPr>
          <a:xfrm>
            <a:off x="8651468" y="4640878"/>
            <a:ext cx="291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-74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программного обеспечения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384048" y="594815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554480" cy="5303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737360"/>
            <a:ext cx="1554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810512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Точка входа.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Создаёт экземпляр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GUI и </a:t>
            </a: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запускает</a:t>
            </a: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его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6272" y="1097280"/>
            <a:ext cx="1554480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097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76272" y="1737360"/>
            <a:ext cx="1554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9424" y="1810512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Весь графический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интерфейс tkinter.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Оба</a:t>
            </a: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режима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13632" y="1097280"/>
            <a:ext cx="1554480" cy="5303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1097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converter.py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13632" y="1737360"/>
            <a:ext cx="1554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86784" y="1810512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конвертации.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ar() и rom()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50992" y="1097280"/>
            <a:ext cx="1554480" cy="530352"/>
          </a:xfrm>
          <a:prstGeom prst="rect">
            <a:avLst/>
          </a:prstGeom>
          <a:solidFill>
            <a:srgbClr val="E04E39"/>
          </a:solidFill>
          <a:ln w="12700">
            <a:solidFill>
              <a:srgbClr val="E04E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097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50992" y="1737360"/>
            <a:ext cx="1554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810512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Тест, проверка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ответов, объяснение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правил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88352" y="1097280"/>
            <a:ext cx="1554480" cy="53035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1097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validation.py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88352" y="1737360"/>
            <a:ext cx="1554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61504" y="1810512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входных данных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обоих</a:t>
            </a:r>
            <a:r>
              <a:rPr lang="en-US" sz="12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Calibri" pitchFamily="34" charset="-122"/>
                <a:cs typeface="Calibri" pitchFamily="34" charset="-120"/>
              </a:rPr>
              <a:t>типов</a:t>
            </a:r>
            <a:endParaRPr lang="en-US" sz="1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993392" y="1362456"/>
            <a:ext cx="182880" cy="0"/>
          </a:xfrm>
          <a:prstGeom prst="line">
            <a:avLst/>
          </a:prstGeom>
          <a:noFill/>
          <a:ln w="19050">
            <a:solidFill>
              <a:srgbClr val="8BA3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1362456"/>
            <a:ext cx="182880" cy="0"/>
          </a:xfrm>
          <a:prstGeom prst="line">
            <a:avLst/>
          </a:prstGeom>
          <a:noFill/>
          <a:ln w="19050">
            <a:solidFill>
              <a:srgbClr val="8BA3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1362456"/>
            <a:ext cx="182880" cy="0"/>
          </a:xfrm>
          <a:prstGeom prst="line">
            <a:avLst/>
          </a:prstGeom>
          <a:noFill/>
          <a:ln w="19050">
            <a:solidFill>
              <a:srgbClr val="8BA3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1362456"/>
            <a:ext cx="182880" cy="0"/>
          </a:xfrm>
          <a:prstGeom prst="line">
            <a:avLst/>
          </a:prstGeom>
          <a:noFill/>
          <a:ln w="19050">
            <a:solidFill>
              <a:srgbClr val="8BA3C1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960A30-EE11-1E09-6F85-FE37447BE7AA}"/>
              </a:ext>
            </a:extLst>
          </p:cNvPr>
          <p:cNvSpPr txBox="1"/>
          <p:nvPr/>
        </p:nvSpPr>
        <p:spPr>
          <a:xfrm>
            <a:off x="8607988" y="4645482"/>
            <a:ext cx="343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743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программы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512064" y="626364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51560"/>
            <a:ext cx="329184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05613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</a:t>
            </a:r>
            <a:r>
              <a:rPr lang="ru-RU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1554480"/>
            <a:ext cx="3035808" cy="1280160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93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</a:t>
            </a: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ящик</a:t>
            </a:r>
            <a:r>
              <a:rPr lang="ru-RU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 внешней спецификации. Граничные значения, недопустимый ввод.</a:t>
            </a: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" y="3035808"/>
            <a:ext cx="3035808" cy="1280160"/>
          </a:xfrm>
          <a:prstGeom prst="rect">
            <a:avLst/>
          </a:prstGeom>
          <a:solidFill>
            <a:srgbClr val="25355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</a:t>
            </a: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ящик</a:t>
            </a:r>
            <a:r>
              <a:rPr lang="ru-RU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всех путей выполнения. Проверка каждой ветки алгоритма.</a:t>
            </a: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22192" y="1051560"/>
            <a:ext cx="4809744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50208" y="1051560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r>
              <a:rPr lang="ru-RU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536192"/>
          <a:ext cx="4297680" cy="296265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MCMXCIX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MCMXCIX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4645152"/>
            <a:ext cx="8247888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79 тестов пройдены успешно. Программа корректно обрабатывает все граничные случаи.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6E0B2E-D06C-8400-ACDC-9E34937E8613}"/>
              </a:ext>
            </a:extLst>
          </p:cNvPr>
          <p:cNvSpPr txBox="1"/>
          <p:nvPr/>
        </p:nvSpPr>
        <p:spPr>
          <a:xfrm>
            <a:off x="8631936" y="4654070"/>
            <a:ext cx="29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403" y="-3027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программы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444605" y="609802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20008F3-79A2-093F-69C0-D7B1C828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74"/>
          <a:stretch/>
        </p:blipFill>
        <p:spPr>
          <a:xfrm>
            <a:off x="244114" y="788755"/>
            <a:ext cx="2979162" cy="211649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22FAA94-DDB7-0574-7F71-9013B4B84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74"/>
          <a:stretch/>
        </p:blipFill>
        <p:spPr>
          <a:xfrm>
            <a:off x="3223276" y="788755"/>
            <a:ext cx="3003941" cy="2116492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D07FA85-B0D0-1681-AA4F-21B5D37D4B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26"/>
          <a:stretch/>
        </p:blipFill>
        <p:spPr>
          <a:xfrm>
            <a:off x="244114" y="2905247"/>
            <a:ext cx="2979162" cy="212614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6C7A7A2D-2D47-D36A-7D5C-46FB855A8E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40" b="6225"/>
          <a:stretch/>
        </p:blipFill>
        <p:spPr>
          <a:xfrm>
            <a:off x="3223276" y="2905247"/>
            <a:ext cx="3003941" cy="2130744"/>
          </a:xfrm>
          <a:prstGeom prst="rect">
            <a:avLst/>
          </a:prstGeom>
        </p:spPr>
      </p:pic>
      <p:pic>
        <p:nvPicPr>
          <p:cNvPr id="37" name="Рисунок 36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53C5FEA-79DD-5F8A-0ADB-B078190B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535" b="13524"/>
          <a:stretch/>
        </p:blipFill>
        <p:spPr>
          <a:xfrm>
            <a:off x="6227217" y="788755"/>
            <a:ext cx="2825004" cy="2126143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CE76006-B656-3B4E-FE43-75C8ACE136E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07"/>
          <a:stretch/>
        </p:blipFill>
        <p:spPr>
          <a:xfrm>
            <a:off x="6227217" y="2916783"/>
            <a:ext cx="2825004" cy="2114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63612-3008-647D-6F6C-E5941ACA590E}"/>
              </a:ext>
            </a:extLst>
          </p:cNvPr>
          <p:cNvSpPr txBox="1"/>
          <p:nvPr/>
        </p:nvSpPr>
        <p:spPr>
          <a:xfrm>
            <a:off x="8606188" y="4662058"/>
            <a:ext cx="293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8</a:t>
            </a:r>
            <a:endParaRPr lang="ru-RU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1838" y="6268"/>
            <a:ext cx="8458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r>
              <a:rPr lang="ru-RU" sz="3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Ы:</a:t>
            </a:r>
            <a:endParaRPr lang="en-US" sz="3200" u="sng" dirty="0"/>
          </a:p>
        </p:txBody>
      </p:sp>
      <p:sp>
        <p:nvSpPr>
          <p:cNvPr id="4" name="Shape 2"/>
          <p:cNvSpPr/>
          <p:nvPr/>
        </p:nvSpPr>
        <p:spPr>
          <a:xfrm>
            <a:off x="502920" y="565657"/>
            <a:ext cx="8375904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24128"/>
            <a:ext cx="41148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24128"/>
            <a:ext cx="384048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109728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Изучена теоретическая база римской системы счисления, правила записи и ограничения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38404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24128"/>
            <a:ext cx="384048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2412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76088" y="109728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алгоритм перевода рим.→ arab. O(n) и </a:t>
            </a:r>
            <a:endParaRPr lang="ru-RU" sz="1100" dirty="0">
              <a:solidFill>
                <a:srgbClr val="D6E4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жадный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алгоритм arab.→ рим. O(1)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41148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75688"/>
            <a:ext cx="384048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7568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" y="214884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режим обучения: 10 вопросов, объяснение правил при ошибке, оценка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075688"/>
            <a:ext cx="38404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075688"/>
            <a:ext cx="384048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7568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14884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графический интерфейс на tkinter с двумя независимыми режимами работы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127248"/>
            <a:ext cx="41148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127248"/>
            <a:ext cx="384048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2724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8408" y="320040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27248"/>
            <a:ext cx="3863309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127248"/>
            <a:ext cx="384048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2724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76088" y="320040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Подготовлена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24528"/>
            <a:ext cx="8160989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24528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решает проблему отсутствия комплексного подхода, объединяя функции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конвертера и интерактивного тренажёра в одном приложении.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CCE383-6F2B-9085-5EB9-2045F64F33BD}"/>
              </a:ext>
            </a:extLst>
          </p:cNvPr>
          <p:cNvSpPr txBox="1"/>
          <p:nvPr/>
        </p:nvSpPr>
        <p:spPr>
          <a:xfrm>
            <a:off x="8663909" y="4650754"/>
            <a:ext cx="286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9</a:t>
            </a:r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732</Words>
  <Application>Microsoft Office PowerPoint</Application>
  <PresentationFormat>Экран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Конвертер римских чисел</dc:title>
  <dc:subject>PptxGenJS Presentation</dc:subject>
  <dc:creator>PptxGenJS</dc:creator>
  <cp:lastModifiedBy>Арина Холкина</cp:lastModifiedBy>
  <cp:revision>10</cp:revision>
  <dcterms:created xsi:type="dcterms:W3CDTF">2026-05-09T13:55:15Z</dcterms:created>
  <dcterms:modified xsi:type="dcterms:W3CDTF">2026-05-13T08:17:32Z</dcterms:modified>
</cp:coreProperties>
</file>